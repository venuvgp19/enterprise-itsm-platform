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3840480"/>
          </a:xfrm>
          <a:prstGeom prst="roundRect">
            <a:avLst/>
          </a:prstGeom>
          <a:solidFill>
            <a:srgbClr val="121826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Enterprise IT Service Management (ITSM) Platform</a:t>
            </a:r>
          </a:p>
          <a:p>
            <a:br/>
            <a:pPr>
              <a:defRPr sz="1800">
                <a:solidFill>
                  <a:srgbClr val="6366F1"/>
                </a:solidFill>
              </a:defRPr>
            </a:pPr>
            <a:r>
              <a:t>Next-Gen Autonomous AI Ticket Routing &amp; Continuous Knowledge Base Architecture</a:t>
            </a:r>
          </a:p>
          <a:p>
            <a:br/>
            <a:br/>
            <a:pPr>
              <a:defRPr sz="1400">
                <a:solidFill>
                  <a:srgbClr val="CBD5E1"/>
                </a:solidFill>
              </a:defRPr>
            </a:pPr>
            <a:r>
              <a:t>• Continuous Agentic AI Ticket Router (NVIDIA Nemotron 3 550B LLM)</a:t>
            </a:r>
            <a:br/>
            <a:r>
              <a:t>• Continuous Knowledge Base &amp; KEDB Synthesizer (Meta Llama 3.3 70B LLM)</a:t>
            </a:r>
            <a:br/>
            <a:r>
              <a:t>• 100% Persistent JSON Database File (Zero Data Loss on Restart)</a:t>
            </a:r>
            <a:br/>
            <a:r>
              <a:t>• Native Stdio Model Context Protocol (MCP) Server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PLATFORM INFRASTRUCTURE &amp; LLM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System Architecture &amp; Token Calculation Engine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36746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280160"/>
            <a:ext cx="3931920" cy="4937760"/>
          </a:xfrm>
          <a:prstGeom prst="roundRect">
            <a:avLst/>
          </a:prstGeom>
          <a:solidFill>
            <a:srgbClr val="121826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Token Calculation Per Incident</a:t>
            </a:r>
          </a:p>
          <a:p>
            <a:pPr>
              <a:defRPr sz="950" b="1">
                <a:solidFill>
                  <a:srgbClr val="6366F1"/>
                </a:solidFill>
              </a:defRPr>
            </a:pPr>
            <a:r>
              <a:t>🤖 NVIDIA Nemotron 3 550B (AI Ticket Router):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• Tokens: ~1,200 / incident (850 input + 350 output)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• Cost: $0.00190 / incident (~0.19 cents)</a:t>
            </a:r>
          </a:p>
          <a:p>
            <a:br/>
            <a:pPr>
              <a:defRPr sz="950">
                <a:solidFill>
                  <a:srgbClr val="CBD5E1"/>
                </a:solidFill>
              </a:defRPr>
            </a:pPr>
            <a:r>
              <a:t>📚 Meta Llama 3.3 70B (Knowledge Synthesizer):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• Tokens: ~600 / incident (~6,000 per 10-ticket batch)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• Cost: $0.00018 / incident (~0.018 cents)</a:t>
            </a:r>
          </a:p>
          <a:p>
            <a:br/>
            <a:pPr>
              <a:defRPr sz="950">
                <a:solidFill>
                  <a:srgbClr val="CBD5E1"/>
                </a:solidFill>
              </a:defRPr>
            </a:pPr>
            <a:r>
              <a:t>💰 TOTAL PIPELINE COST / INCIDENT: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• $0.00208 / incident (~0.2 cents per ticket)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• 1,000 Incidents Total Cost: $2.08</a:t>
            </a:r>
          </a:p>
          <a:p>
            <a:br/>
            <a:pPr>
              <a:defRPr sz="950">
                <a:solidFill>
                  <a:srgbClr val="CBD5E1"/>
                </a:solidFill>
              </a:defRPr>
            </a:pPr>
            <a:r>
              <a:t>📈 ROI &amp; SAVINGS: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• Human Helpdesk Labor: $15.00 - $25.00 / incident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• Cost Reduction: 99.99% Savings! 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EXECUTIVE SERVICE MANAGEMENT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Live Dashboard &amp; Command Center Overview</a:t>
            </a:r>
          </a:p>
        </p:txBody>
      </p:sp>
      <p:pic>
        <p:nvPicPr>
          <p:cNvPr id="5" name="Picture 4" descr="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46862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280160"/>
            <a:ext cx="3017520" cy="4937760"/>
          </a:xfrm>
          <a:prstGeom prst="roundRect">
            <a:avLst/>
          </a:prstGeom>
          <a:solidFill>
            <a:srgbClr val="121826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Dashboard Highlights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100% Dynamic Synchronization with backend database file (`incidents.json`).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Total Database Incidents metric tracks 1,000+ persistent records.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Live Unassigned Queue countdown reflects real-time AI Router progress.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Real-time Active Incident Stream table with direct clickable links.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98.4%+ SLA target compliance monitoring across P1 &amp; P2 tickets.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AUTONOMOUS ITIL TRIAGE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Agentic AI Ticket Router (NVIDIA Nemotron 3 550B LLM)</a:t>
            </a:r>
          </a:p>
        </p:txBody>
      </p:sp>
      <p:pic>
        <p:nvPicPr>
          <p:cNvPr id="5" name="Picture 4" descr="ai_router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498079" cy="8347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371600"/>
            <a:ext cx="3017520" cy="4846320"/>
          </a:xfrm>
          <a:prstGeom prst="roundRect">
            <a:avLst/>
          </a:prstGeom>
          <a:solidFill>
            <a:srgbClr val="121826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AI Router Features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Continuous Background Monitoring: Scans unassigned queue every 10 seconds.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NVIDIA Nemotron 3 550B LLM performs multi-factor diagnostic reasoning.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Strict ITIL Group Routing (Unix, Network Ops, App Support, SecOps, DBA).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High-Availability Rule Engine Fallback guarantees 96%+ routing uptime.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Automatic execution logs emitted directly in NestJS console.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ITIL PROCESS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Incident Management Console &amp; Triage Queue</a:t>
            </a:r>
          </a:p>
        </p:txBody>
      </p:sp>
      <p:pic>
        <p:nvPicPr>
          <p:cNvPr id="5" name="Picture 4" descr="incident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46862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280160"/>
            <a:ext cx="3017520" cy="4937760"/>
          </a:xfrm>
          <a:prstGeom prst="roundRect">
            <a:avLst/>
          </a:prstGeom>
          <a:solidFill>
            <a:srgbClr val="121826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Console Capabilities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1,000+ Record Database view powered by single source of truth.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Multi-field search filter by Ticket ID, Title, Group, or Assigned Tech.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Real-time counters for Unassigned Queue, Assigned &amp; Resolved, and P1s.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ITIL Impact x Urgency matrix automatically calculates P1 - P4 priorities.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Direct integration with NestJS REST API (`GET /api/v1/incidents`).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DIAGNOSTIC WORKFLOW &amp;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Incident Detail &amp; Agentic AI Work Notes Log</a:t>
            </a:r>
          </a:p>
        </p:txBody>
      </p:sp>
      <p:pic>
        <p:nvPicPr>
          <p:cNvPr id="5" name="Picture 4" descr="inciden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317057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280160"/>
            <a:ext cx="3017520" cy="4937760"/>
          </a:xfrm>
          <a:prstGeom prst="roundRect">
            <a:avLst/>
          </a:prstGeom>
          <a:solidFill>
            <a:srgbClr val="121826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Activity Log Audit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Agentic AI Router posts internal Department Work Notes automatically.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Includes reasoning text, target group, assigned lead, and confidence score.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ITIL Close Codes (Kernel Patch, DB Vacuum, SSO Fix, BGP Reset).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SLA Target Metrics timer (Response SLA &amp; Resolution SLA).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Persistent activity timeline preserved in database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AUTONOMOUS KNOWLEDGE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Continuous Knowledge Base (Meta Llama 3.3 70B)</a:t>
            </a:r>
          </a:p>
        </p:txBody>
      </p:sp>
      <p:pic>
        <p:nvPicPr>
          <p:cNvPr id="5" name="Picture 4" descr="knowledge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35366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280160"/>
            <a:ext cx="3017520" cy="4937760"/>
          </a:xfrm>
          <a:prstGeom prst="roundRect">
            <a:avLst/>
          </a:prstGeom>
          <a:solidFill>
            <a:srgbClr val="121826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Knowledge Synthesizer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Continuous Background AI Worker running in NestJS backend.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Scans 1,000 incident diagnostic notes in 10-ticket batches.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Synthesizes Standard Operating Procedures (SOPs) &amp; KEDB workarounds.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Meta Llama 3.3 70B Instruct LLM powers intelligent synthesis.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Live progress bar tracks 100% completion across 1,000 tickets.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ENTERPRISE INFRASTRUCTURE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Interactive CMDB Topology Graph &amp; Blast Radius Map</a:t>
            </a:r>
          </a:p>
        </p:txBody>
      </p:sp>
      <p:pic>
        <p:nvPicPr>
          <p:cNvPr id="5" name="Picture 4" descr="cmdb_topology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46862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280160"/>
            <a:ext cx="3017520" cy="4937760"/>
          </a:xfrm>
          <a:prstGeom prst="roundRect">
            <a:avLst/>
          </a:prstGeom>
          <a:solidFill>
            <a:srgbClr val="121826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Topology Map Features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Interactive 2D Vector Node Network Canvas connecting all active CIs.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Upstream &amp; Downstream dependency streams (Hosted On, Depends On).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Outage Blast-Radius Visualizer: Node selection highlights impacted downstream CIs.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Real-time CI status indicators (Operational, Degraded, Maintenance).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Toggle between Interactive Topology Graph and Directory Table 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ZERO-HUMAN INCIDENT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9. Autonomous AI Self-Healing Auto-Remediation Bot</a:t>
            </a:r>
          </a:p>
        </p:txBody>
      </p:sp>
      <p:pic>
        <p:nvPicPr>
          <p:cNvPr id="5" name="Picture 4" descr="ai_auto_remed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46862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280160"/>
            <a:ext cx="3017520" cy="4937760"/>
          </a:xfrm>
          <a:prstGeom prst="roundRect">
            <a:avLst/>
          </a:prstGeom>
          <a:solidFill>
            <a:srgbClr val="121826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Self-Healing Playbooks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Automated root cause playbook execution (BGP Reset, K8s Scale, Redis Flush).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Live Step-by-step Terminal Console execution stream on ticket detail UI.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Automatically updates state to RESOLVED and logs close codes.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Reduces Mean Time to Resolution (MTTR) from minutes to &lt; 3 seconds.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Step-by-step audit activities written to persistent database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