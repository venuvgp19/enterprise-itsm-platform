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10728655" cy="3840480"/>
          </a:xfrm>
          <a:prstGeom prst="roundRect">
            <a:avLst/>
          </a:prstGeom>
          <a:solidFill>
            <a:srgbClr val="121826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Enterprise IT Service Management (ITSM) Platform</a:t>
            </a:r>
          </a:p>
          <a:p>
            <a:br/>
            <a:pPr>
              <a:defRPr sz="1800">
                <a:solidFill>
                  <a:srgbClr val="6366F1"/>
                </a:solidFill>
              </a:defRPr>
            </a:pPr>
            <a:r>
              <a:t>Next-Gen Autonomous AI Ticket Routing &amp; Continuous Knowledge Base Architecture</a:t>
            </a:r>
          </a:p>
          <a:p>
            <a:br/>
            <a:br/>
            <a:pPr>
              <a:defRPr sz="1400">
                <a:solidFill>
                  <a:srgbClr val="CBD5E1"/>
                </a:solidFill>
              </a:defRPr>
            </a:pPr>
            <a:r>
              <a:t>• Continuous Agentic AI Ticket Router (NVIDIA Nemotron 3 550B LLM)</a:t>
            </a:r>
            <a:br/>
            <a:r>
              <a:t>• Continuous Knowledge Base &amp; KEDB Synthesizer (Meta Llama 3.3 70B LLM)</a:t>
            </a:r>
            <a:br/>
            <a:r>
              <a:t>• 100% Persistent JSON Database File (Zero Data Loss on Restart)</a:t>
            </a:r>
            <a:br/>
            <a:r>
              <a:t>• Native Stdio Model Context Protocol (MCP) Server Integration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</a:defRPr>
            </a:pPr>
            <a:r>
              <a:t>PLATFORM INFRASTRUCTURE &amp; LLM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2. System Architecture &amp; Token Calculation Engine</a:t>
            </a:r>
          </a:p>
        </p:txBody>
      </p:sp>
      <p:pic>
        <p:nvPicPr>
          <p:cNvPr id="5" name="Picture 4" descr="architectur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6583680" cy="367461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498079" y="1280160"/>
            <a:ext cx="3931920" cy="4937760"/>
          </a:xfrm>
          <a:prstGeom prst="roundRect">
            <a:avLst/>
          </a:prstGeom>
          <a:solidFill>
            <a:srgbClr val="121826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0B981"/>
                </a:solidFill>
              </a:defRPr>
            </a:pPr>
            <a:r>
              <a:t>Token Calculation Per Incident</a:t>
            </a:r>
          </a:p>
          <a:p>
            <a:pPr>
              <a:defRPr sz="1050" b="1">
                <a:solidFill>
                  <a:srgbClr val="6366F1"/>
                </a:solidFill>
              </a:defRPr>
            </a:pPr>
            <a:r>
              <a:t>🤖 NVIDIA Nemotron 3 550B (AI Ticket Router):</a:t>
            </a:r>
          </a:p>
          <a:p>
            <a:pPr>
              <a:defRPr sz="1050">
                <a:solidFill>
                  <a:srgbClr val="CBD5E1"/>
                </a:solidFill>
              </a:defRPr>
            </a:pPr>
            <a:r>
              <a:t>  • Input Prompt: ~850 tokens (System prompt, ITIL guidelines, CI, Priority, Activity notes)</a:t>
            </a:r>
          </a:p>
          <a:p>
            <a:pPr>
              <a:defRPr sz="1050">
                <a:solidFill>
                  <a:srgbClr val="CBD5E1"/>
                </a:solidFill>
              </a:defRPr>
            </a:pPr>
            <a:r>
              <a:t>  • Output Reasoning: ~350 tokens (Chain-of-thought, Target group, Work note)</a:t>
            </a:r>
          </a:p>
          <a:p>
            <a:pPr>
              <a:defRPr sz="1050">
                <a:solidFill>
                  <a:srgbClr val="CBD5E1"/>
                </a:solidFill>
              </a:defRPr>
            </a:pPr>
            <a:r>
              <a:t>  • Total / Incident: ~1,200 tokens (~1.2M tokens for 1,000 tickets)</a:t>
            </a:r>
          </a:p>
          <a:p>
            <a:br/>
            <a:pPr>
              <a:defRPr sz="1050">
                <a:solidFill>
                  <a:srgbClr val="CBD5E1"/>
                </a:solidFill>
              </a:defRPr>
            </a:pPr>
            <a:r>
              <a:t>📚 Meta Llama 3.3 70B (Knowledge Synthesizer):</a:t>
            </a:r>
          </a:p>
          <a:p>
            <a:pPr>
              <a:defRPr sz="1050">
                <a:solidFill>
                  <a:srgbClr val="CBD5E1"/>
                </a:solidFill>
              </a:defRPr>
            </a:pPr>
            <a:r>
              <a:t>  • Input Batch Prompt (10 tickets): ~4,500 tokens</a:t>
            </a:r>
          </a:p>
          <a:p>
            <a:pPr>
              <a:defRPr sz="1050">
                <a:solidFill>
                  <a:srgbClr val="CBD5E1"/>
                </a:solidFill>
              </a:defRPr>
            </a:pPr>
            <a:r>
              <a:t>  • Output SOP Article: ~1,500 tokens</a:t>
            </a:r>
          </a:p>
          <a:p>
            <a:pPr>
              <a:defRPr sz="1050">
                <a:solidFill>
                  <a:srgbClr val="CBD5E1"/>
                </a:solidFill>
              </a:defRPr>
            </a:pPr>
            <a:r>
              <a:t>  • Total / Batch: ~6,000 tokens (~600 tokens / incident)</a:t>
            </a:r>
          </a:p>
          <a:p>
            <a:pPr>
              <a:defRPr sz="1050">
                <a:solidFill>
                  <a:srgbClr val="CBD5E1"/>
                </a:solidFill>
              </a:defRPr>
            </a:pPr>
            <a:r>
              <a:t>  • Total for 1,000 Incidents: ~600,000 tokens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</a:defRPr>
            </a:pPr>
            <a:r>
              <a:t>EXECUTIVE SERVICE MANAGEMENT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3. Live Dashboard &amp; Command Center Overview</a:t>
            </a:r>
          </a:p>
        </p:txBody>
      </p:sp>
      <p:pic>
        <p:nvPicPr>
          <p:cNvPr id="5" name="Picture 4" descr="dashboard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7498079" cy="361723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412480" y="1280160"/>
            <a:ext cx="3017520" cy="4937760"/>
          </a:xfrm>
          <a:prstGeom prst="roundRect">
            <a:avLst/>
          </a:prstGeom>
          <a:solidFill>
            <a:srgbClr val="121826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0B981"/>
                </a:solidFill>
              </a:defRPr>
            </a:pPr>
            <a:r>
              <a:t>Dashboard Highlights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100% Dynamic Synchronization with backend database file (`incidents.json`).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Total Database Incidents metric tracks 1,000+ persistent records.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Live Unassigned Queue countdown reflects real-time AI Router progress.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Real-time Active Incident Stream table with direct clickable links.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98.4%+ SLA target compliance monitoring across P1 &amp; P2 tickets.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</a:defRPr>
            </a:pPr>
            <a:r>
              <a:t>AUTONOMOUS ITIL TRIAGE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4. Agentic AI Ticket Router (NVIDIA Nemotron 3 550B LLM)</a:t>
            </a:r>
          </a:p>
        </p:txBody>
      </p:sp>
      <p:pic>
        <p:nvPicPr>
          <p:cNvPr id="5" name="Picture 4" descr="ai_router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7498079" cy="83474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412480" y="1371600"/>
            <a:ext cx="3017520" cy="4846320"/>
          </a:xfrm>
          <a:prstGeom prst="roundRect">
            <a:avLst/>
          </a:prstGeom>
          <a:solidFill>
            <a:srgbClr val="121826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59E0B"/>
                </a:solidFill>
              </a:defRPr>
            </a:pPr>
            <a:r>
              <a:t>AI Router Features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Continuous Background Monitoring: Scans unassigned queue every 10 seconds.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NVIDIA Nemotron 3 550B LLM performs multi-factor diagnostic reasoning.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Strict ITIL Group Routing (Unix, Network Ops, App Support, SecOps, DBA).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High-Availability Rule Engine Fallback guarantees 96%+ routing uptime.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Automatic execution logs emitted directly in NestJS console.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</a:defRPr>
            </a:pPr>
            <a:r>
              <a:t>ITIL PROCESS 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5. Incident Management Console &amp; Triage Queue</a:t>
            </a:r>
          </a:p>
        </p:txBody>
      </p:sp>
      <p:pic>
        <p:nvPicPr>
          <p:cNvPr id="5" name="Picture 4" descr="incident_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7498079" cy="354401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412480" y="1280160"/>
            <a:ext cx="3017520" cy="4937760"/>
          </a:xfrm>
          <a:prstGeom prst="roundRect">
            <a:avLst/>
          </a:prstGeom>
          <a:solidFill>
            <a:srgbClr val="121826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366F1"/>
                </a:solidFill>
              </a:defRPr>
            </a:pPr>
            <a:r>
              <a:t>Console Capabilities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1,000+ Record Database view powered by single source of truth.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Multi-field search filter by Ticket ID, Title, Group, or Assigned Tech.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Real-time counters for Unassigned Queue, Assigned &amp; Resolved, and P1s.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ITIL Impact x Urgency matrix automatically calculates P1 - P4 priorities.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Direct integration with NestJS REST API (`GET /api/v1/incidents`).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</a:defRPr>
            </a:pPr>
            <a:r>
              <a:t>DIAGNOSTIC WORKFLOW &amp; AUDIT TRAIL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6. Incident Detail &amp; Agentic AI Work Notes Log</a:t>
            </a:r>
          </a:p>
        </p:txBody>
      </p:sp>
      <p:pic>
        <p:nvPicPr>
          <p:cNvPr id="5" name="Picture 4" descr="incident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7498079" cy="317057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412480" y="1280160"/>
            <a:ext cx="3017520" cy="4937760"/>
          </a:xfrm>
          <a:prstGeom prst="roundRect">
            <a:avLst/>
          </a:prstGeom>
          <a:solidFill>
            <a:srgbClr val="121826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0B981"/>
                </a:solidFill>
              </a:defRPr>
            </a:pPr>
            <a:r>
              <a:t>Activity Log Audit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Agentic AI Router posts internal Department Work Notes automatically.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Includes reasoning text, target group, assigned lead, and confidence score.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ITIL Close Codes (Kernel Patch, DB Vacuum, SSO Fix, BGP Reset).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SLA Target Metrics timer (Response SLA &amp; Resolution SLA).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Persistent activity timeline preserved in database file.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</a:defRPr>
            </a:pPr>
            <a:r>
              <a:t>AUTONOMOUS KNOWLEDGE SYNTHESIS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7. Continuous Knowledge Base (Meta Llama 3.3 70B)</a:t>
            </a:r>
          </a:p>
        </p:txBody>
      </p:sp>
      <p:pic>
        <p:nvPicPr>
          <p:cNvPr id="5" name="Picture 4" descr="knowledge_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7498079" cy="353669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412480" y="1280160"/>
            <a:ext cx="3017520" cy="4937760"/>
          </a:xfrm>
          <a:prstGeom prst="roundRect">
            <a:avLst/>
          </a:prstGeom>
          <a:solidFill>
            <a:srgbClr val="121826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59E0B"/>
                </a:solidFill>
              </a:defRPr>
            </a:pPr>
            <a:r>
              <a:t>Knowledge Synthesizer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Continuous Background AI Worker running in NestJS backend.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Scans 1,000 incident diagnostic notes in 10-ticket batches.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Synthesizes Standard Operating Procedures (SOPs) &amp; KEDB workarounds.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Meta Llama 3.3 70B Instruct LLM powers intelligent synthesis.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Live progress bar tracks 100% completion across 1,000 tickets.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